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ZETHETA ALGORITHMS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Project 2: Temporal Graph Sector Network Rotation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Cross-Sectional Intelligence, Graph Attention Networks, and Audit-Defensible Sector Overlays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Framing &amp; The Cross-Sectional Thesis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Shifting from absolute level prediction to relative strength ranking across Indian equities.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Sector Dispersion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Annual return spreads between top and bottom NSE sectors routinely exceed 40 percentage points.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Creates rich cross-sectional alpha opportunities for active fund managers.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Direction Over Price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Ranking relative performance is statistically more robust than predicting absolute index levels.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Minimizes macro-forecasting error by focusing purely on relational relative strength.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Auditability Requirement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Investment Committees and SEBI inspectors demand rigorous, edge-level rationales.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Every tilt must be explainable through transparent graph connectivity.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 Universe &amp; Panel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Ingesting 14+ NSE sectoral indices and macroeconomic indicators.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Sector Universe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Tracking Nifty Bank, IT, Auto, Pharma, FMCG, Metal, Energy, Realty, and Financial Services.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Captures over ₹160 lakh crore of market capitalization across the Indian market.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Panel Cleanliness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Compiled clean daily OHLCV and total-return series from 2008 onwards.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Rigorously adjusted for corporate actions, demergers, and index reconstitutions.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Macro Integration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Incorporated USD/INR exchange rates, 10-year Gilt yields, and Brent crude benchmarks.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Integrated daily FII/DII institutional flow metrics to monitor demand pressure.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Feature Engineering (5 Core Families)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Constructing robust node features free from look-ahead bias.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Momentum &amp; Trend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Multi-horizon trailing returns (5d, 21d, 63d, 252d).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Rolling relative strength ratio against Nifty 50 and Nifty 500 benchmarks.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Volatility &amp; Risk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Realized volatility and downside risk deviation across rolling windows.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Rolling beta coefficients relative to broader market benchmarks.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Breadth &amp; Macro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Volume participation ratios and constituent advance-decline momentum.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Macro sensitivity metrics for currency and interest rate shocks.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Graph Construction: Typed and Signed Edges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Moving beyond naive correlation matrices to multi-relational graphs.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Contemporaneous Links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Pearson correlation and mutual information to capture non-linear co-movements.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Thresholded filtering to isolate core structural relationships.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Directed Lead-Lag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Granger causality testing to capture asymmetric institutional transmission.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Identifies leadership between FII-heavy and DII-dominated sectors.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Signed Partitions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Separating positive synergies from negative structural divergences.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Crucial for modeling divergent pairs like IT vs FMCG during currency depreciation.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Architecture Progression: From GCN to GATv2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Evaluating baseline graph models against attention-driven architectures.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Graph Convolution (GCN)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Fixed neighborhood aggregation based on normalized graph Laplacians.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Serves as a stable, computationally efficient baseline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Graph Attention (GAT)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Assigns learnable weights to edges, enabling adaptive neighbor importance.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Multi-head attention mechanism surfaces sparse structural connections.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GATv2 Enhancement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Reorders linear layers and nonlinearities to fix static attention limitations.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Allows query-dependent node attention preferences across all neighbors.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Temporal Extensions &amp; Dynamic Edge Learning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Capturing time-varying regime shifts through advanced graph neural networks.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Temporal GAT (TGAT)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Learned Bochner time encodings make attention weights dynamically time-dependent.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Adapts edge importance smoothly as market regimes evolve.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EvolveGCN Integration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Updates GCN weight matrices over time using recurrent neural units.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Treats time-varying graph filters as learnable dynamic parameters.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Dynamic Edge Learning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Treats graph topologies as learnable functions derived from node embeddings.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Employs top-k sparsity to isolate high-conviction inter-sector pathways.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Evidence: Out-of-Sample IC &amp; Ablations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Validating model performance under strict time-series cross-validation.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Information Coefficient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Evaluates Spearman Rank IC across rolling out-of-sample test periods.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Measures true predictive power rather than in-sample curve-fitting.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Ablation Protocols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Systematically drops feature families and edge types to measure IC degradation.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Proves that attention and temporal components are load-bearing.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Over-Smoothing Defense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Restricts architecture to 2-3 layers to prevent node embedding collapse.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Employs LayerNorm and residual connections to maintain feature diversity.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Uncertainty Quantification &amp; Conformal Sets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Moving from point rankings to calibrated confidence bounds.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Epistemic Variance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MC-Dropout and deep ensembles sample score distributions at inference.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Quantifies model uncertainty for every individual sector score.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Split Conformal Sets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Provides finite-sample, distribution-free coverage guarantees for top-k sets.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Calibrated on held-out windows to ensure statistical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Conviction Gating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Withholds capital allocation when predictive variance breaches safety thresholds.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Prevents trading on low-conviction model outputs during market turbulence.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Ensembling &amp; Regime Mixture-of-Experts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Conditioning sector rotation on macro regime states.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Rank-Space Ensembling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Combines GCN, GAT, and TGAT outputs via Borda count rank aggregation.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Significantly reduces model variance and improves generalization.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Regime MoE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Blends dedicated GNN experts using posterior probabilities from Project 1.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Ensures each expert specializes in its corresponding macroeconomic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All-Weather Robustness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Prevents risk-on models from diluting performance during dislocated regimes.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Delivers stable cross-sectional alpha across full business cycles.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Adversarial Robustness &amp; Stress-Testing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Probing model stability under extreme market anomalies.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Feature Perturbation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Injects Gaussian noise into node features to test ranking persistence.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Measures top-3 ranking stability under adversarial input shocks.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Structural Stress Tests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Simulates sudden correlation breakdowns, liquidity shocks, and contagion.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Confirms graceful degradation and widening uncertainty during crises.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Event-Window Gating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Damps ranking confidence during known binary events (e.g., elections).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Prevents panic-rebalancing on short-term event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Edge-Level Explainability &amp; Attribution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Unpacking the black box for investment committees and regulators.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Attention Extraction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Exports directed edge weights directly from the forward pass.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Provides human-readable evidence for every sector ranking.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GNNExplainer Module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Identifies minimal subgraphs and feature subsets sufficient for predictions.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Validates that decisions rely on economically sound drivers.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Counterfactual Ablation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Measures score impact when specific inter-sector edges are severed.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Tests whether a relationship is truly driving the investment call.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Case Study I: The 2018 IL&amp;FS Credit Shock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Tracking banking-NBFC decoupling through dynamic attention weights.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The Credit Shock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IL&amp;FS default causes historical Banking-NBFC correlation to collapse.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Shadow-banking index crashes 20-40% while private banks hold firm.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Attention Adaptation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GAT model detects structural decoupling within 5 trading days.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Re-weights edges away from NBFCs toward defensive safety clusters.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Strategy Outperformance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Adaptive overlay successfully bypasses shadow-banking drawdowns.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Delivers positive active returns during a severe sector dislocation.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Case Study II: 2020 IT Rerating &amp; 2023 PSU Rally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Capturing structural cluster migrations and emerging market trends.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2020 IT Rerating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Captures migration of Nifty IT from defensive to growth cluster.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Capitalizes on digital-transformation demand and currency tailwinds.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2023 PSU Bank Rally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Discovers emergence of novel PSU Bank + Capex + Defence cluster.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Attention weights rise 3-5x as government policy drives capital inflows.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Structural Agility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Proves attention networks discover new relationships ahead of stats.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Adapts to out-of-distribution market regimes seamlessly.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Overlay Performance &amp; Transaction Cost Realism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Translating ranking scores into implementable portfolio tilts.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Overlay Strategy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Active top-k overweighting and linear z-score portfolio tilting.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Designed for execution through liquid sectoral ETFs or cash baskets.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Friction Modeling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Accounts for brokerage, STT, exchange fees, and market impact.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Models realistic round-trip costs ranging from 30 to 80 bps.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Performance Metrics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Delivers robust Information Ratios and controlled drawdowns.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Constrained by sector liquidity and AUM capacity limits.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Audit Trail &amp; Lineage Governance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Surviving simulated SEBI inspections through rigorous MLOps.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Immutable Logging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Records timestamps, data hashes, and configuration lineage per decision.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Enables exact reconstruction of past portfolio tilts for audits.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Model Registry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Version-controlled promotion pipelines from staging to production.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Maintains clean separation of model artifacts via MLflow.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Drift Monitoring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Tracks Population Stability Index (PSI) and rolling IC decay.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Triggers controlled retraining when market drift breaches thresholds.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Sector Compass Gamification &amp; Go-To-Market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Training quantitative analysts through realistic market simulations.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Campaign Mode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8 progressive levels from relative strength rankers to audit survivors.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Builds practical intuition for graph-based quantitative finance.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Stress Test Mode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Real-time simulation across historical crises (2008 GFC, COVID, Elections).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Scores ranking accuracy, explanation coherence, and risk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Commercial Viability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Institutional licensing model tailored for AMCs, B-schools, and RIAs.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Bridges the gap between academic research and desk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Live Ranking Walkthrough &amp; Summary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End-to-end demonstration of production-grade sector rotation.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Pipeline Execution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Demonstrates live panel ingestion, feature scoring, and graph evaluation.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Generates real-time sector ranking vectors in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Audit Inspection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Reviews top attention influencers and conformal confidence bounds.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Verifies complete explainability lineage before trade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383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Strategic Impact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Delivers audit-defensible, edge-explainable cross-sectional alpha.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Fully operational for deployment on institutional equity desks.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